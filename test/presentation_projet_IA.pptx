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301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Nous sommes ravis de vous présenter notre projet final : le Générateur de Contenu IA Personnalisé.
Ce projet a été développé dans le cadre de notre formation en Data Science et Python. Il mobilise l'ensemble des compétences acquises : programmation orientée objet, analyse de données avec Pandas et NumPy, visualisation avec Matplotlib et Seaborn, tests statistiques avec SciPy, et logique de recommandation basée sur la similarité cosinus.
Nous sommes deux développeurs sur ce projet : Akré et Kia. Ensemble, nous avons conçu l'architecture du système, généré et nettoyé les données, puis construit le moteur de recommandation et l'interface Streamlit.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se décompose en quatre grandes étapes.
Étape 1 — Définir les profils utilisateurs :
Nous avons utilisé la bibliothèque Faker pour générer 500 profils fictifs avec des attributs réalistes : nom, âge, centres d'intérêt (fitness, musique, technologie…) et un journal d'activité simulant des comportements réels.
Étape 2 — Générer et analyser les données :
Avec NumPy et Pandas, nous avons construit le dataset, injecté du bruit (valeurs manquantes, doublons), puis nettoyé les données. Nous avons appliqué le test du Chi-deux de SciPy pour vérifier si la distribution des intérêts suit bien la loi de Dirichlet, et tester la corrélation entre actions.
Étape 3 — Moteur de Recommandation :
Nous avons conçu trois classes Python (ProfilUtilisateur, ProfilPremium, MoteurRecommandation) illustrant l'héritage, l'encapsulation et le polymorphisme. Le moteur utilise filter, map et reduce pour les recommandations personnalisées, et la similarité cosinus de SciPy pour identifier les profils similaires et générer des recommandations collaboratives.
Étape 4 — Visualiser les insights :
Trois graphiques principaux : un bar chart de la répartition des intérêts, une heatmap de l'intensité d'activité par type d'action et catégorie, et un bar chart groupé des recommandations par segment d'âge. L'ensemble est déployé dans une interface Streamlit interactive.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Nous sommes ravis de vous présenter notre projet final : le Générateur de Contenu IA Personnalisé.
Ce projet a été développé dans le cadre de notre formation en Data Science et Python. Il mobilise l'ensemble des compétences acquises : programmation orientée objet, analyse de données avec Pandas et NumPy, visualisation avec Matplotlib et Seaborn, tests statistiques avec SciPy, et logique de recommandation basée sur la similarité cosinus.
Nous sommes deux développeurs sur ce projet : Akré et Kia. Ensemble, nous avons conçu l'architecture du système, généré et nettoyé les données, puis construit le moteur de recommandation et l'interface Streamlit.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50987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31520" y="-731520"/>
            <a:ext cx="3200400" cy="3200400"/>
          </a:xfrm>
          <a:prstGeom prst="ellipse">
            <a:avLst/>
          </a:prstGeom>
          <a:solidFill>
            <a:srgbClr val="6366F1">
              <a:alpha val="20000"/>
            </a:srgbClr>
          </a:solidFill>
          <a:ln w="12700">
            <a:solidFill>
              <a:srgbClr val="6366F1">
                <a:alpha val="20000"/>
              </a:srgbClr>
            </a:solidFill>
            <a:prstDash val="solid"/>
          </a:ln>
        </p:spPr>
      </p:sp>
      <p:sp>
        <p:nvSpPr>
          <p:cNvPr id="3" name="Shape 1"/>
          <p:cNvSpPr/>
          <p:nvPr/>
        </p:nvSpPr>
        <p:spPr>
          <a:xfrm>
            <a:off x="7132320" y="3200400"/>
            <a:ext cx="3657600" cy="3657600"/>
          </a:xfrm>
          <a:prstGeom prst="ellipse">
            <a:avLst/>
          </a:prstGeom>
          <a:solidFill>
            <a:srgbClr val="6366F1">
              <a:alpha val="15000"/>
            </a:srgbClr>
          </a:solidFill>
          <a:ln w="12700">
            <a:solidFill>
              <a:srgbClr val="6366F1">
                <a:alpha val="15000"/>
              </a:srgbClr>
            </a:solidFill>
            <a:prstDash val="solid"/>
          </a:ln>
        </p:spPr>
      </p:sp>
      <p:sp>
        <p:nvSpPr>
          <p:cNvPr id="4" name="Shape 2"/>
          <p:cNvSpPr/>
          <p:nvPr/>
        </p:nvSpPr>
        <p:spPr>
          <a:xfrm>
            <a:off x="7772400" y="-457200"/>
            <a:ext cx="1828800" cy="1828800"/>
          </a:xfrm>
          <a:prstGeom prst="ellipse">
            <a:avLst/>
          </a:prstGeom>
          <a:solidFill>
            <a:srgbClr val="818CF8">
              <a:alpha val="25000"/>
            </a:srgbClr>
          </a:solidFill>
          <a:ln w="12700">
            <a:solidFill>
              <a:srgbClr val="818CF8">
                <a:alpha val="25000"/>
              </a:srgbClr>
            </a:solidFill>
            <a:prstDash val="solid"/>
          </a:ln>
        </p:spPr>
      </p:sp>
      <p:sp>
        <p:nvSpPr>
          <p:cNvPr id="7" name="Text 5"/>
          <p:cNvSpPr/>
          <p:nvPr/>
        </p:nvSpPr>
        <p:spPr>
          <a:xfrm>
            <a:off x="457200" y="2154327"/>
            <a:ext cx="8229600" cy="977493"/>
          </a:xfrm>
          <a:prstGeom prst="rect">
            <a:avLst/>
          </a:prstGeom>
          <a:noFill/>
          <a:ln/>
        </p:spPr>
        <p:txBody>
          <a:bodyPr wrap="square" rtlCol="0" anchor="ctr"/>
          <a:lstStyle/>
          <a:p>
            <a:pPr algn="ctr"/>
            <a:r>
              <a:rPr lang="en-US" sz="3800" b="1" kern="0" spc="50" dirty="0" err="1" smtClean="0">
                <a:solidFill>
                  <a:srgbClr val="FFFFFF"/>
                </a:solidFill>
                <a:latin typeface="Calibri" pitchFamily="34" charset="0"/>
                <a:ea typeface="Calibri" pitchFamily="34" charset="-122"/>
                <a:cs typeface="Calibri" pitchFamily="34" charset="-120"/>
              </a:rPr>
              <a:t>Développement</a:t>
            </a:r>
            <a:r>
              <a:rPr lang="en-US" sz="3800" b="1" kern="0" spc="50" dirty="0" smtClean="0">
                <a:solidFill>
                  <a:srgbClr val="FFFFFF"/>
                </a:solidFill>
                <a:latin typeface="Calibri" pitchFamily="34" charset="0"/>
                <a:ea typeface="Calibri" pitchFamily="34" charset="-122"/>
                <a:cs typeface="Calibri" pitchFamily="34" charset="-120"/>
              </a:rPr>
              <a:t> d’un </a:t>
            </a:r>
            <a:r>
              <a:rPr lang="en-US" sz="3800" b="1" kern="0" spc="50" dirty="0" err="1" smtClean="0">
                <a:solidFill>
                  <a:srgbClr val="FFFFFF"/>
                </a:solidFill>
                <a:latin typeface="Calibri" pitchFamily="34" charset="0"/>
                <a:ea typeface="Calibri" pitchFamily="34" charset="-122"/>
                <a:cs typeface="Calibri" pitchFamily="34" charset="-120"/>
              </a:rPr>
              <a:t>système</a:t>
            </a:r>
            <a:r>
              <a:rPr lang="en-US" sz="3800" b="1" kern="0" spc="50" dirty="0" smtClean="0">
                <a:solidFill>
                  <a:srgbClr val="FFFFFF"/>
                </a:solidFill>
                <a:latin typeface="Calibri" pitchFamily="34" charset="0"/>
                <a:ea typeface="Calibri" pitchFamily="34" charset="-122"/>
                <a:cs typeface="Calibri" pitchFamily="34" charset="-120"/>
              </a:rPr>
              <a:t> de </a:t>
            </a:r>
            <a:r>
              <a:rPr lang="en-US" sz="3800" b="1" kern="0" spc="50" dirty="0" err="1" smtClean="0">
                <a:solidFill>
                  <a:srgbClr val="FFFFFF"/>
                </a:solidFill>
                <a:latin typeface="Calibri" pitchFamily="34" charset="0"/>
                <a:ea typeface="Calibri" pitchFamily="34" charset="-122"/>
                <a:cs typeface="Calibri" pitchFamily="34" charset="-120"/>
              </a:rPr>
              <a:t>recommandation</a:t>
            </a:r>
            <a:r>
              <a:rPr lang="en-US" sz="3800" b="1" kern="0" spc="50" dirty="0" smtClean="0">
                <a:solidFill>
                  <a:srgbClr val="FFFFFF"/>
                </a:solidFill>
                <a:latin typeface="Calibri" pitchFamily="34" charset="0"/>
                <a:ea typeface="Calibri" pitchFamily="34" charset="-122"/>
                <a:cs typeface="Calibri" pitchFamily="34" charset="-120"/>
              </a:rPr>
              <a:t> de </a:t>
            </a:r>
            <a:r>
              <a:rPr lang="en-US" sz="3800" b="1" kern="0" spc="50" dirty="0" err="1" smtClean="0">
                <a:solidFill>
                  <a:srgbClr val="FFFFFF"/>
                </a:solidFill>
                <a:latin typeface="Calibri" pitchFamily="34" charset="0"/>
                <a:ea typeface="Calibri" pitchFamily="34" charset="-122"/>
                <a:cs typeface="Calibri" pitchFamily="34" charset="-120"/>
              </a:rPr>
              <a:t>contenus</a:t>
            </a:r>
            <a:r>
              <a:rPr lang="en-US" sz="3800" b="1" kern="0" spc="50" dirty="0" smtClean="0">
                <a:solidFill>
                  <a:srgbClr val="FFFFFF"/>
                </a:solidFill>
                <a:latin typeface="Calibri" pitchFamily="34" charset="0"/>
                <a:ea typeface="Calibri" pitchFamily="34" charset="-122"/>
                <a:cs typeface="Calibri" pitchFamily="34" charset="-120"/>
              </a:rPr>
              <a:t> </a:t>
            </a:r>
            <a:r>
              <a:rPr lang="en-US" sz="3800" b="1" kern="0" spc="50" dirty="0" err="1" smtClean="0">
                <a:solidFill>
                  <a:srgbClr val="FFFFFF"/>
                </a:solidFill>
                <a:latin typeface="Calibri" pitchFamily="34" charset="0"/>
                <a:ea typeface="Calibri" pitchFamily="34" charset="-122"/>
                <a:cs typeface="Calibri" pitchFamily="34" charset="-120"/>
              </a:rPr>
              <a:t>basé</a:t>
            </a:r>
            <a:r>
              <a:rPr lang="en-US" sz="3800" b="1" kern="0" spc="50" dirty="0" smtClean="0">
                <a:solidFill>
                  <a:srgbClr val="FFFFFF"/>
                </a:solidFill>
                <a:latin typeface="Calibri" pitchFamily="34" charset="0"/>
                <a:ea typeface="Calibri" pitchFamily="34" charset="-122"/>
                <a:cs typeface="Calibri" pitchFamily="34" charset="-120"/>
              </a:rPr>
              <a:t> sur </a:t>
            </a:r>
            <a:r>
              <a:rPr lang="en-US" sz="3800" b="1" kern="0" spc="50" dirty="0" err="1" smtClean="0">
                <a:solidFill>
                  <a:srgbClr val="FFFFFF"/>
                </a:solidFill>
                <a:latin typeface="Calibri" pitchFamily="34" charset="0"/>
                <a:ea typeface="Calibri" pitchFamily="34" charset="-122"/>
                <a:cs typeface="Calibri" pitchFamily="34" charset="-120"/>
              </a:rPr>
              <a:t>l’</a:t>
            </a:r>
            <a:r>
              <a:rPr lang="en-US" sz="3800" b="1" kern="0" spc="50" dirty="0" err="1" smtClean="0">
                <a:solidFill>
                  <a:srgbClr val="6366F1"/>
                </a:solidFill>
                <a:latin typeface="Calibri" pitchFamily="34" charset="0"/>
                <a:ea typeface="Calibri" pitchFamily="34" charset="-122"/>
                <a:cs typeface="Calibri" pitchFamily="34" charset="-120"/>
              </a:rPr>
              <a:t>IA</a:t>
            </a:r>
            <a:endParaRPr lang="en-US" sz="3800" dirty="0"/>
          </a:p>
          <a:p>
            <a:pPr marL="0" indent="0" algn="ctr">
              <a:buNone/>
            </a:pPr>
            <a:endParaRPr lang="en-US" sz="3800" dirty="0"/>
          </a:p>
        </p:txBody>
      </p:sp>
      <p:sp>
        <p:nvSpPr>
          <p:cNvPr id="13" name="Text 10"/>
          <p:cNvSpPr/>
          <p:nvPr/>
        </p:nvSpPr>
        <p:spPr>
          <a:xfrm>
            <a:off x="2385676" y="4386377"/>
            <a:ext cx="2560320" cy="320040"/>
          </a:xfrm>
          <a:prstGeom prst="rect">
            <a:avLst/>
          </a:prstGeom>
          <a:noFill/>
          <a:ln/>
        </p:spPr>
        <p:txBody>
          <a:bodyPr wrap="square" rtlCol="0" anchor="ctr"/>
          <a:lstStyle/>
          <a:p>
            <a:pPr marL="0" indent="0" algn="ctr">
              <a:buNone/>
            </a:pPr>
            <a:r>
              <a:rPr lang="en-US" sz="1500" b="1" dirty="0" smtClean="0">
                <a:solidFill>
                  <a:srgbClr val="FFFFFF"/>
                </a:solidFill>
                <a:latin typeface="Calibri" pitchFamily="34" charset="0"/>
                <a:ea typeface="Calibri" pitchFamily="34" charset="-122"/>
                <a:cs typeface="Calibri" pitchFamily="34" charset="-120"/>
              </a:rPr>
              <a:t>AKRÉ  Ange David</a:t>
            </a:r>
            <a:endParaRPr lang="en-US" sz="1500" dirty="0"/>
          </a:p>
        </p:txBody>
      </p:sp>
      <p:pic>
        <p:nvPicPr>
          <p:cNvPr id="17" name="Image 1" descr="preencoded.png"/>
          <p:cNvPicPr>
            <a:picLocks noChangeAspect="1"/>
          </p:cNvPicPr>
          <p:nvPr/>
        </p:nvPicPr>
        <p:blipFill>
          <a:blip r:embed="rId3"/>
          <a:stretch>
            <a:fillRect/>
          </a:stretch>
        </p:blipFill>
        <p:spPr>
          <a:xfrm>
            <a:off x="5185569" y="3578047"/>
            <a:ext cx="822960" cy="822960"/>
          </a:xfrm>
          <a:prstGeom prst="ellipse">
            <a:avLst/>
          </a:prstGeom>
        </p:spPr>
      </p:pic>
      <p:sp>
        <p:nvSpPr>
          <p:cNvPr id="18" name="Text 14"/>
          <p:cNvSpPr/>
          <p:nvPr/>
        </p:nvSpPr>
        <p:spPr>
          <a:xfrm>
            <a:off x="4380908" y="4538167"/>
            <a:ext cx="2560320" cy="320040"/>
          </a:xfrm>
          <a:prstGeom prst="rect">
            <a:avLst/>
          </a:prstGeom>
          <a:noFill/>
          <a:ln/>
        </p:spPr>
        <p:txBody>
          <a:bodyPr wrap="square" rtlCol="0" anchor="ctr"/>
          <a:lstStyle/>
          <a:p>
            <a:pPr algn="ctr"/>
            <a:r>
              <a:rPr lang="en-US" sz="1500" b="1" dirty="0" smtClean="0">
                <a:solidFill>
                  <a:srgbClr val="FFFFFF"/>
                </a:solidFill>
                <a:latin typeface="Calibri" pitchFamily="34" charset="0"/>
                <a:ea typeface="Calibri" pitchFamily="34" charset="-122"/>
                <a:cs typeface="Calibri" pitchFamily="34" charset="-120"/>
              </a:rPr>
              <a:t>KIA</a:t>
            </a:r>
            <a:r>
              <a:rPr lang="en-US" sz="1600" b="1" dirty="0" smtClean="0">
                <a:solidFill>
                  <a:srgbClr val="E0E7FF"/>
                </a:solidFill>
                <a:latin typeface="Calibri" pitchFamily="34" charset="0"/>
                <a:ea typeface="Calibri" pitchFamily="34" charset="-122"/>
                <a:cs typeface="Calibri" pitchFamily="34" charset="-120"/>
              </a:rPr>
              <a:t> </a:t>
            </a:r>
            <a:r>
              <a:rPr lang="en-US" sz="1600" b="1" dirty="0" err="1">
                <a:solidFill>
                  <a:srgbClr val="E0E7FF"/>
                </a:solidFill>
                <a:latin typeface="Calibri" pitchFamily="34" charset="0"/>
                <a:ea typeface="Calibri" pitchFamily="34" charset="-122"/>
                <a:cs typeface="Calibri" pitchFamily="34" charset="-120"/>
              </a:rPr>
              <a:t>Eddi</a:t>
            </a:r>
            <a:endParaRPr lang="en-US" sz="1600" dirty="0"/>
          </a:p>
          <a:p>
            <a:pPr marL="0" indent="0" algn="ctr">
              <a:buNone/>
            </a:pPr>
            <a:endParaRPr lang="en-US" sz="1500" dirty="0"/>
          </a:p>
        </p:txBody>
      </p:sp>
      <p:pic>
        <p:nvPicPr>
          <p:cNvPr id="21" name="Imag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0748" y="3317038"/>
            <a:ext cx="1089068" cy="15411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772400" y="-1097280"/>
            <a:ext cx="3200400" cy="3200400"/>
          </a:xfrm>
          <a:prstGeom prst="ellipse">
            <a:avLst/>
          </a:prstGeom>
          <a:solidFill>
            <a:srgbClr val="6366F1">
              <a:alpha val="10000"/>
            </a:srgbClr>
          </a:solidFill>
          <a:ln w="12700">
            <a:solidFill>
              <a:srgbClr val="6366F1">
                <a:alpha val="10000"/>
              </a:srgbClr>
            </a:solidFill>
            <a:prstDash val="solid"/>
          </a:ln>
        </p:spPr>
      </p:sp>
      <p:sp>
        <p:nvSpPr>
          <p:cNvPr id="4" name="Shape 2"/>
          <p:cNvSpPr/>
          <p:nvPr/>
        </p:nvSpPr>
        <p:spPr>
          <a:xfrm>
            <a:off x="457200" y="387706"/>
            <a:ext cx="8229600" cy="1239926"/>
          </a:xfrm>
          <a:prstGeom prst="roundRect">
            <a:avLst>
              <a:gd name="adj" fmla="val 11364"/>
            </a:avLst>
          </a:prstGeom>
          <a:solidFill>
            <a:srgbClr val="6366F1">
              <a:alpha val="12000"/>
            </a:srgbClr>
          </a:solidFill>
          <a:ln w="12700">
            <a:solidFill>
              <a:srgbClr val="6366F1"/>
            </a:solidFill>
            <a:prstDash val="solid"/>
          </a:ln>
        </p:spPr>
      </p:sp>
      <p:sp>
        <p:nvSpPr>
          <p:cNvPr id="5" name="Text 3"/>
          <p:cNvSpPr/>
          <p:nvPr/>
        </p:nvSpPr>
        <p:spPr>
          <a:xfrm>
            <a:off x="640080" y="502920"/>
            <a:ext cx="1828800" cy="256032"/>
          </a:xfrm>
          <a:prstGeom prst="rect">
            <a:avLst/>
          </a:prstGeom>
          <a:noFill/>
          <a:ln/>
        </p:spPr>
        <p:txBody>
          <a:bodyPr wrap="square" rtlCol="0" anchor="ctr"/>
          <a:lstStyle/>
          <a:p>
            <a:pPr marL="0" indent="0">
              <a:buNone/>
            </a:pPr>
            <a:r>
              <a:rPr lang="en-US" b="1" dirty="0">
                <a:solidFill>
                  <a:srgbClr val="6366F1"/>
                </a:solidFill>
                <a:latin typeface="Calibri" pitchFamily="34" charset="0"/>
                <a:ea typeface="Calibri" pitchFamily="34" charset="-122"/>
                <a:cs typeface="Calibri" pitchFamily="34" charset="-120"/>
              </a:rPr>
              <a:t>🎯  Objectif</a:t>
            </a:r>
            <a:endParaRPr lang="en-US" dirty="0"/>
          </a:p>
        </p:txBody>
      </p:sp>
      <p:sp>
        <p:nvSpPr>
          <p:cNvPr id="6" name="Text 4"/>
          <p:cNvSpPr/>
          <p:nvPr/>
        </p:nvSpPr>
        <p:spPr>
          <a:xfrm>
            <a:off x="640080" y="1148486"/>
            <a:ext cx="7863840" cy="360274"/>
          </a:xfrm>
          <a:prstGeom prst="rect">
            <a:avLst/>
          </a:prstGeom>
          <a:noFill/>
          <a:ln/>
        </p:spPr>
        <p:txBody>
          <a:bodyPr wrap="square" rtlCol="0" anchor="ctr"/>
          <a:lstStyle/>
          <a:p>
            <a:pPr marL="0" indent="0">
              <a:buNone/>
            </a:pPr>
            <a:r>
              <a:rPr lang="en-US" sz="2000" i="1" dirty="0">
                <a:solidFill>
                  <a:srgbClr val="1E293B"/>
                </a:solidFill>
                <a:latin typeface="Calibri" pitchFamily="34" charset="0"/>
                <a:ea typeface="Calibri" pitchFamily="34" charset="-122"/>
                <a:cs typeface="Calibri" pitchFamily="34" charset="-120"/>
              </a:rPr>
              <a:t>Développer un générateur de </a:t>
            </a:r>
            <a:r>
              <a:rPr lang="en-US" sz="2000" i="1" dirty="0" err="1" smtClean="0">
                <a:solidFill>
                  <a:srgbClr val="1E293B"/>
                </a:solidFill>
                <a:latin typeface="Calibri" pitchFamily="34" charset="0"/>
                <a:ea typeface="Calibri" pitchFamily="34" charset="-122"/>
                <a:cs typeface="Calibri" pitchFamily="34" charset="-120"/>
              </a:rPr>
              <a:t>contenus</a:t>
            </a:r>
            <a:r>
              <a:rPr lang="en-US" sz="2000" i="1" dirty="0" smtClean="0">
                <a:solidFill>
                  <a:srgbClr val="1E293B"/>
                </a:solidFill>
                <a:latin typeface="Calibri" pitchFamily="34" charset="0"/>
                <a:ea typeface="Calibri" pitchFamily="34" charset="-122"/>
                <a:cs typeface="Calibri" pitchFamily="34" charset="-120"/>
              </a:rPr>
              <a:t> </a:t>
            </a:r>
            <a:r>
              <a:rPr lang="en-US" sz="2000" i="1" dirty="0" err="1" smtClean="0">
                <a:solidFill>
                  <a:srgbClr val="1E293B"/>
                </a:solidFill>
                <a:latin typeface="Calibri" pitchFamily="34" charset="0"/>
                <a:ea typeface="Calibri" pitchFamily="34" charset="-122"/>
                <a:cs typeface="Calibri" pitchFamily="34" charset="-120"/>
              </a:rPr>
              <a:t>personnalisés</a:t>
            </a:r>
            <a:r>
              <a:rPr lang="en-US" sz="2000" i="1" dirty="0" smtClean="0">
                <a:solidFill>
                  <a:srgbClr val="1E293B"/>
                </a:solidFill>
                <a:latin typeface="Calibri" pitchFamily="34" charset="0"/>
                <a:ea typeface="Calibri" pitchFamily="34" charset="-122"/>
                <a:cs typeface="Calibri" pitchFamily="34" charset="-120"/>
              </a:rPr>
              <a:t> sur la base de </a:t>
            </a:r>
            <a:r>
              <a:rPr lang="en-US" sz="2000" i="1" dirty="0" err="1" smtClean="0">
                <a:solidFill>
                  <a:srgbClr val="1E293B"/>
                </a:solidFill>
                <a:latin typeface="Calibri" pitchFamily="34" charset="0"/>
                <a:ea typeface="Calibri" pitchFamily="34" charset="-122"/>
                <a:cs typeface="Calibri" pitchFamily="34" charset="-120"/>
              </a:rPr>
              <a:t>données</a:t>
            </a:r>
            <a:r>
              <a:rPr lang="en-US" sz="2000" i="1" dirty="0" smtClean="0">
                <a:solidFill>
                  <a:srgbClr val="1E293B"/>
                </a:solidFill>
                <a:latin typeface="Calibri" pitchFamily="34" charset="0"/>
                <a:ea typeface="Calibri" pitchFamily="34" charset="-122"/>
                <a:cs typeface="Calibri" pitchFamily="34" charset="-120"/>
              </a:rPr>
              <a:t> </a:t>
            </a:r>
            <a:r>
              <a:rPr lang="en-US" sz="2000" i="1" dirty="0" err="1" smtClean="0">
                <a:solidFill>
                  <a:srgbClr val="1E293B"/>
                </a:solidFill>
                <a:latin typeface="Calibri" pitchFamily="34" charset="0"/>
                <a:ea typeface="Calibri" pitchFamily="34" charset="-122"/>
                <a:cs typeface="Calibri" pitchFamily="34" charset="-120"/>
              </a:rPr>
              <a:t>générées</a:t>
            </a:r>
            <a:endParaRPr lang="en-US" sz="2000" dirty="0"/>
          </a:p>
        </p:txBody>
      </p:sp>
      <p:sp>
        <p:nvSpPr>
          <p:cNvPr id="7" name="Shape 5"/>
          <p:cNvSpPr/>
          <p:nvPr/>
        </p:nvSpPr>
        <p:spPr>
          <a:xfrm>
            <a:off x="457200" y="1810512"/>
            <a:ext cx="4069080" cy="1280160"/>
          </a:xfrm>
          <a:prstGeom prst="roundRect">
            <a:avLst>
              <a:gd name="adj" fmla="val 7143"/>
            </a:avLst>
          </a:prstGeom>
          <a:solidFill>
            <a:srgbClr val="FFFFFF"/>
          </a:solidFill>
          <a:ln w="12700">
            <a:solidFill>
              <a:srgbClr val="E2E8F0"/>
            </a:solidFill>
            <a:prstDash val="solid"/>
          </a:ln>
          <a:effectLst>
            <a:outerShdw blurRad="101600" dist="25400" dir="2700000" algn="bl" rotWithShape="0">
              <a:srgbClr val="000000">
                <a:alpha val="8000"/>
              </a:srgbClr>
            </a:outerShdw>
          </a:effectLst>
        </p:spPr>
      </p:sp>
      <p:sp>
        <p:nvSpPr>
          <p:cNvPr id="8" name="Shape 6"/>
          <p:cNvSpPr/>
          <p:nvPr/>
        </p:nvSpPr>
        <p:spPr>
          <a:xfrm>
            <a:off x="594360" y="1947672"/>
            <a:ext cx="384048" cy="256032"/>
          </a:xfrm>
          <a:prstGeom prst="roundRect">
            <a:avLst>
              <a:gd name="adj" fmla="val 17857"/>
            </a:avLst>
          </a:prstGeom>
          <a:solidFill>
            <a:srgbClr val="EEF2FF"/>
          </a:solidFill>
          <a:ln w="12700">
            <a:solidFill>
              <a:srgbClr val="EEF2FF"/>
            </a:solidFill>
            <a:prstDash val="solid"/>
          </a:ln>
        </p:spPr>
      </p:sp>
      <p:sp>
        <p:nvSpPr>
          <p:cNvPr id="9" name="Text 7"/>
          <p:cNvSpPr/>
          <p:nvPr/>
        </p:nvSpPr>
        <p:spPr>
          <a:xfrm>
            <a:off x="594360" y="1947672"/>
            <a:ext cx="384048" cy="256032"/>
          </a:xfrm>
          <a:prstGeom prst="rect">
            <a:avLst/>
          </a:prstGeom>
          <a:noFill/>
          <a:ln/>
        </p:spPr>
        <p:txBody>
          <a:bodyPr wrap="square" lIns="0" tIns="0" rIns="0" bIns="0" rtlCol="0" anchor="ctr"/>
          <a:lstStyle/>
          <a:p>
            <a:pPr marL="0" indent="0" algn="ctr">
              <a:buNone/>
            </a:pPr>
            <a:r>
              <a:rPr lang="en-US" sz="1400" b="1" dirty="0">
                <a:solidFill>
                  <a:srgbClr val="6366F1"/>
                </a:solidFill>
              </a:rPr>
              <a:t>01</a:t>
            </a:r>
            <a:endParaRPr lang="en-US" sz="1400" dirty="0"/>
          </a:p>
        </p:txBody>
      </p:sp>
      <p:sp>
        <p:nvSpPr>
          <p:cNvPr id="10" name="Text 8"/>
          <p:cNvSpPr/>
          <p:nvPr/>
        </p:nvSpPr>
        <p:spPr>
          <a:xfrm>
            <a:off x="1051560" y="1929384"/>
            <a:ext cx="3337560" cy="292608"/>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Définir les profils utilisateurs</a:t>
            </a:r>
            <a:endParaRPr lang="en-US" sz="2000" dirty="0"/>
          </a:p>
        </p:txBody>
      </p:sp>
      <p:sp>
        <p:nvSpPr>
          <p:cNvPr id="11" name="Text 9"/>
          <p:cNvSpPr/>
          <p:nvPr/>
        </p:nvSpPr>
        <p:spPr>
          <a:xfrm>
            <a:off x="594360" y="2267712"/>
            <a:ext cx="3794760" cy="74980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Création d'un dataset avec Faker : nom, âge, intérêts (fitness, musique, tech…) et journaux d'activité (vues, achats, likes).</a:t>
            </a:r>
            <a:endParaRPr lang="en-US" sz="1200" dirty="0"/>
          </a:p>
        </p:txBody>
      </p:sp>
      <p:sp>
        <p:nvSpPr>
          <p:cNvPr id="12" name="Shape 10"/>
          <p:cNvSpPr/>
          <p:nvPr/>
        </p:nvSpPr>
        <p:spPr>
          <a:xfrm>
            <a:off x="4800600" y="1810512"/>
            <a:ext cx="4069080" cy="1280160"/>
          </a:xfrm>
          <a:prstGeom prst="roundRect">
            <a:avLst>
              <a:gd name="adj" fmla="val 7143"/>
            </a:avLst>
          </a:prstGeom>
          <a:solidFill>
            <a:srgbClr val="FFFFFF"/>
          </a:solidFill>
          <a:ln w="12700">
            <a:solidFill>
              <a:srgbClr val="E2E8F0"/>
            </a:solidFill>
            <a:prstDash val="solid"/>
          </a:ln>
          <a:effectLst>
            <a:outerShdw blurRad="101600" dist="25400" dir="2700000" algn="bl" rotWithShape="0">
              <a:srgbClr val="000000">
                <a:alpha val="8000"/>
              </a:srgbClr>
            </a:outerShdw>
          </a:effectLst>
        </p:spPr>
      </p:sp>
      <p:sp>
        <p:nvSpPr>
          <p:cNvPr id="13" name="Shape 11"/>
          <p:cNvSpPr/>
          <p:nvPr/>
        </p:nvSpPr>
        <p:spPr>
          <a:xfrm>
            <a:off x="4937760" y="1947672"/>
            <a:ext cx="384048" cy="256032"/>
          </a:xfrm>
          <a:prstGeom prst="roundRect">
            <a:avLst>
              <a:gd name="adj" fmla="val 17857"/>
            </a:avLst>
          </a:prstGeom>
          <a:solidFill>
            <a:srgbClr val="EEF2FF"/>
          </a:solidFill>
          <a:ln w="12700">
            <a:solidFill>
              <a:srgbClr val="EEF2FF"/>
            </a:solidFill>
            <a:prstDash val="solid"/>
          </a:ln>
        </p:spPr>
      </p:sp>
      <p:sp>
        <p:nvSpPr>
          <p:cNvPr id="14" name="Text 12"/>
          <p:cNvSpPr/>
          <p:nvPr/>
        </p:nvSpPr>
        <p:spPr>
          <a:xfrm>
            <a:off x="4937760" y="1947672"/>
            <a:ext cx="384048" cy="256032"/>
          </a:xfrm>
          <a:prstGeom prst="rect">
            <a:avLst/>
          </a:prstGeom>
          <a:noFill/>
          <a:ln/>
        </p:spPr>
        <p:txBody>
          <a:bodyPr wrap="square" lIns="0" tIns="0" rIns="0" bIns="0" rtlCol="0" anchor="ctr"/>
          <a:lstStyle/>
          <a:p>
            <a:pPr marL="0" indent="0" algn="ctr">
              <a:buNone/>
            </a:pPr>
            <a:r>
              <a:rPr lang="en-US" sz="1400" b="1" dirty="0">
                <a:solidFill>
                  <a:srgbClr val="6366F1"/>
                </a:solidFill>
              </a:rPr>
              <a:t>02</a:t>
            </a:r>
            <a:endParaRPr lang="en-US" sz="1400" dirty="0"/>
          </a:p>
        </p:txBody>
      </p:sp>
      <p:sp>
        <p:nvSpPr>
          <p:cNvPr id="15" name="Text 13"/>
          <p:cNvSpPr/>
          <p:nvPr/>
        </p:nvSpPr>
        <p:spPr>
          <a:xfrm>
            <a:off x="5257800" y="1920240"/>
            <a:ext cx="3749040" cy="338328"/>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Générer &amp; Analyser les données</a:t>
            </a:r>
            <a:endParaRPr lang="en-US" sz="2000" dirty="0"/>
          </a:p>
        </p:txBody>
      </p:sp>
      <p:sp>
        <p:nvSpPr>
          <p:cNvPr id="16" name="Text 14"/>
          <p:cNvSpPr/>
          <p:nvPr/>
        </p:nvSpPr>
        <p:spPr>
          <a:xfrm>
            <a:off x="4937760" y="2267712"/>
            <a:ext cx="3794760" cy="74980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NumPy &amp; Pandas : génération synthétique, nettoyage (doublons, NaN). SciPy : test χ² pour analyser la distribution et les corrélations.</a:t>
            </a:r>
            <a:endParaRPr lang="en-US" sz="1200" dirty="0"/>
          </a:p>
        </p:txBody>
      </p:sp>
      <p:sp>
        <p:nvSpPr>
          <p:cNvPr id="17" name="Shape 15"/>
          <p:cNvSpPr/>
          <p:nvPr/>
        </p:nvSpPr>
        <p:spPr>
          <a:xfrm>
            <a:off x="457200" y="3246120"/>
            <a:ext cx="4069080" cy="1280160"/>
          </a:xfrm>
          <a:prstGeom prst="roundRect">
            <a:avLst>
              <a:gd name="adj" fmla="val 7143"/>
            </a:avLst>
          </a:prstGeom>
          <a:solidFill>
            <a:srgbClr val="FFFFFF"/>
          </a:solidFill>
          <a:ln w="12700">
            <a:solidFill>
              <a:srgbClr val="E2E8F0"/>
            </a:solidFill>
            <a:prstDash val="solid"/>
          </a:ln>
          <a:effectLst>
            <a:outerShdw blurRad="101600" dist="25400" dir="2700000" algn="bl" rotWithShape="0">
              <a:srgbClr val="000000">
                <a:alpha val="8000"/>
              </a:srgbClr>
            </a:outerShdw>
          </a:effectLst>
        </p:spPr>
      </p:sp>
      <p:sp>
        <p:nvSpPr>
          <p:cNvPr id="18" name="Shape 16"/>
          <p:cNvSpPr/>
          <p:nvPr/>
        </p:nvSpPr>
        <p:spPr>
          <a:xfrm>
            <a:off x="594360" y="3383280"/>
            <a:ext cx="384048" cy="256032"/>
          </a:xfrm>
          <a:prstGeom prst="roundRect">
            <a:avLst>
              <a:gd name="adj" fmla="val 17857"/>
            </a:avLst>
          </a:prstGeom>
          <a:solidFill>
            <a:srgbClr val="EEF2FF"/>
          </a:solidFill>
          <a:ln w="12700">
            <a:solidFill>
              <a:srgbClr val="EEF2FF"/>
            </a:solidFill>
            <a:prstDash val="solid"/>
          </a:ln>
        </p:spPr>
      </p:sp>
      <p:sp>
        <p:nvSpPr>
          <p:cNvPr id="19" name="Text 17"/>
          <p:cNvSpPr/>
          <p:nvPr/>
        </p:nvSpPr>
        <p:spPr>
          <a:xfrm>
            <a:off x="594360" y="3383280"/>
            <a:ext cx="384048" cy="256032"/>
          </a:xfrm>
          <a:prstGeom prst="rect">
            <a:avLst/>
          </a:prstGeom>
          <a:noFill/>
          <a:ln/>
        </p:spPr>
        <p:txBody>
          <a:bodyPr wrap="square" lIns="0" tIns="0" rIns="0" bIns="0" rtlCol="0" anchor="ctr"/>
          <a:lstStyle/>
          <a:p>
            <a:pPr marL="0" indent="0" algn="ctr">
              <a:buNone/>
            </a:pPr>
            <a:r>
              <a:rPr lang="en-US" sz="1400" b="1" dirty="0">
                <a:solidFill>
                  <a:srgbClr val="6366F1"/>
                </a:solidFill>
              </a:rPr>
              <a:t>03</a:t>
            </a:r>
            <a:endParaRPr lang="en-US" sz="1400" dirty="0"/>
          </a:p>
        </p:txBody>
      </p:sp>
      <p:sp>
        <p:nvSpPr>
          <p:cNvPr id="20" name="Text 18"/>
          <p:cNvSpPr/>
          <p:nvPr/>
        </p:nvSpPr>
        <p:spPr>
          <a:xfrm>
            <a:off x="1051560" y="3364992"/>
            <a:ext cx="3337560" cy="292608"/>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Moteur de Recommandation</a:t>
            </a:r>
            <a:endParaRPr lang="en-US" sz="2000" dirty="0"/>
          </a:p>
        </p:txBody>
      </p:sp>
      <p:sp>
        <p:nvSpPr>
          <p:cNvPr id="21" name="Text 19"/>
          <p:cNvSpPr/>
          <p:nvPr/>
        </p:nvSpPr>
        <p:spPr>
          <a:xfrm>
            <a:off x="594360" y="3703320"/>
            <a:ext cx="3794760" cy="74980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POO (héritage, encapsulation, polymorphisme) + filter/map/reduce. Similarité cosinus (SciPy) pour rapprocher les profils similaires.</a:t>
            </a:r>
            <a:endParaRPr lang="en-US" sz="1200" dirty="0"/>
          </a:p>
        </p:txBody>
      </p:sp>
      <p:sp>
        <p:nvSpPr>
          <p:cNvPr id="22" name="Shape 20"/>
          <p:cNvSpPr/>
          <p:nvPr/>
        </p:nvSpPr>
        <p:spPr>
          <a:xfrm>
            <a:off x="4800600" y="3246120"/>
            <a:ext cx="4069080" cy="1280160"/>
          </a:xfrm>
          <a:prstGeom prst="roundRect">
            <a:avLst>
              <a:gd name="adj" fmla="val 7143"/>
            </a:avLst>
          </a:prstGeom>
          <a:solidFill>
            <a:srgbClr val="FFFFFF"/>
          </a:solidFill>
          <a:ln w="12700">
            <a:solidFill>
              <a:srgbClr val="E2E8F0"/>
            </a:solidFill>
            <a:prstDash val="solid"/>
          </a:ln>
          <a:effectLst>
            <a:outerShdw blurRad="101600" dist="25400" dir="2700000" algn="bl" rotWithShape="0">
              <a:srgbClr val="000000">
                <a:alpha val="8000"/>
              </a:srgbClr>
            </a:outerShdw>
          </a:effectLst>
        </p:spPr>
      </p:sp>
      <p:sp>
        <p:nvSpPr>
          <p:cNvPr id="23" name="Shape 21"/>
          <p:cNvSpPr/>
          <p:nvPr/>
        </p:nvSpPr>
        <p:spPr>
          <a:xfrm>
            <a:off x="4937760" y="3383280"/>
            <a:ext cx="384048" cy="256032"/>
          </a:xfrm>
          <a:prstGeom prst="roundRect">
            <a:avLst>
              <a:gd name="adj" fmla="val 17857"/>
            </a:avLst>
          </a:prstGeom>
          <a:solidFill>
            <a:srgbClr val="EEF2FF"/>
          </a:solidFill>
          <a:ln w="12700">
            <a:solidFill>
              <a:srgbClr val="EEF2FF"/>
            </a:solidFill>
            <a:prstDash val="solid"/>
          </a:ln>
        </p:spPr>
      </p:sp>
      <p:sp>
        <p:nvSpPr>
          <p:cNvPr id="24" name="Text 22"/>
          <p:cNvSpPr/>
          <p:nvPr/>
        </p:nvSpPr>
        <p:spPr>
          <a:xfrm>
            <a:off x="4937760" y="3383280"/>
            <a:ext cx="384048" cy="256032"/>
          </a:xfrm>
          <a:prstGeom prst="rect">
            <a:avLst/>
          </a:prstGeom>
          <a:noFill/>
          <a:ln/>
        </p:spPr>
        <p:txBody>
          <a:bodyPr wrap="square" lIns="0" tIns="0" rIns="0" bIns="0" rtlCol="0" anchor="ctr"/>
          <a:lstStyle/>
          <a:p>
            <a:pPr marL="0" indent="0" algn="ctr">
              <a:buNone/>
            </a:pPr>
            <a:r>
              <a:rPr lang="en-US" sz="1400" b="1" dirty="0">
                <a:solidFill>
                  <a:srgbClr val="6366F1"/>
                </a:solidFill>
              </a:rPr>
              <a:t>04</a:t>
            </a:r>
            <a:endParaRPr lang="en-US" sz="1400" dirty="0"/>
          </a:p>
        </p:txBody>
      </p:sp>
      <p:sp>
        <p:nvSpPr>
          <p:cNvPr id="25" name="Text 23"/>
          <p:cNvSpPr/>
          <p:nvPr/>
        </p:nvSpPr>
        <p:spPr>
          <a:xfrm>
            <a:off x="5394960" y="3364992"/>
            <a:ext cx="3337560" cy="292608"/>
          </a:xfrm>
          <a:prstGeom prst="rect">
            <a:avLst/>
          </a:prstGeom>
          <a:noFill/>
          <a:ln/>
        </p:spPr>
        <p:txBody>
          <a:bodyPr wrap="square"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Visualiser les insights</a:t>
            </a:r>
            <a:endParaRPr lang="en-US" sz="2000" dirty="0"/>
          </a:p>
        </p:txBody>
      </p:sp>
      <p:sp>
        <p:nvSpPr>
          <p:cNvPr id="26" name="Text 24"/>
          <p:cNvSpPr/>
          <p:nvPr/>
        </p:nvSpPr>
        <p:spPr>
          <a:xfrm>
            <a:off x="4937760" y="3703320"/>
            <a:ext cx="3794760" cy="74980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Matplotlib &amp; Seaborn : répartition des intérêts, heatmap d'intensité d'activité, bar plots par segment d'utilisateurs.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31520" y="-731520"/>
            <a:ext cx="3200400" cy="3200400"/>
          </a:xfrm>
          <a:prstGeom prst="ellipse">
            <a:avLst/>
          </a:prstGeom>
          <a:solidFill>
            <a:srgbClr val="6366F1">
              <a:alpha val="20000"/>
            </a:srgbClr>
          </a:solidFill>
          <a:ln w="12700">
            <a:solidFill>
              <a:srgbClr val="6366F1">
                <a:alpha val="20000"/>
              </a:srgbClr>
            </a:solidFill>
            <a:prstDash val="solid"/>
          </a:ln>
        </p:spPr>
      </p:sp>
      <p:sp>
        <p:nvSpPr>
          <p:cNvPr id="3" name="Shape 1"/>
          <p:cNvSpPr/>
          <p:nvPr/>
        </p:nvSpPr>
        <p:spPr>
          <a:xfrm>
            <a:off x="7132320" y="3200400"/>
            <a:ext cx="3657600" cy="3657600"/>
          </a:xfrm>
          <a:prstGeom prst="ellipse">
            <a:avLst/>
          </a:prstGeom>
          <a:solidFill>
            <a:srgbClr val="6366F1">
              <a:alpha val="15000"/>
            </a:srgbClr>
          </a:solidFill>
          <a:ln w="12700">
            <a:solidFill>
              <a:srgbClr val="6366F1">
                <a:alpha val="15000"/>
              </a:srgbClr>
            </a:solidFill>
            <a:prstDash val="solid"/>
          </a:ln>
        </p:spPr>
      </p:sp>
      <p:sp>
        <p:nvSpPr>
          <p:cNvPr id="4" name="Shape 2"/>
          <p:cNvSpPr/>
          <p:nvPr/>
        </p:nvSpPr>
        <p:spPr>
          <a:xfrm>
            <a:off x="7772400" y="-457200"/>
            <a:ext cx="1828800" cy="1828800"/>
          </a:xfrm>
          <a:prstGeom prst="ellipse">
            <a:avLst/>
          </a:prstGeom>
          <a:solidFill>
            <a:srgbClr val="818CF8">
              <a:alpha val="25000"/>
            </a:srgbClr>
          </a:solidFill>
          <a:ln w="12700">
            <a:solidFill>
              <a:srgbClr val="818CF8">
                <a:alpha val="25000"/>
              </a:srgbClr>
            </a:solidFill>
            <a:prstDash val="solid"/>
          </a:ln>
        </p:spPr>
      </p:sp>
      <p:sp>
        <p:nvSpPr>
          <p:cNvPr id="7" name="Text 5"/>
          <p:cNvSpPr/>
          <p:nvPr/>
        </p:nvSpPr>
        <p:spPr>
          <a:xfrm>
            <a:off x="457200" y="2154327"/>
            <a:ext cx="8229600" cy="977493"/>
          </a:xfrm>
          <a:prstGeom prst="rect">
            <a:avLst/>
          </a:prstGeom>
          <a:noFill/>
          <a:ln/>
        </p:spPr>
        <p:txBody>
          <a:bodyPr wrap="square" rtlCol="0" anchor="ctr"/>
          <a:lstStyle/>
          <a:p>
            <a:pPr algn="ctr"/>
            <a:r>
              <a:rPr lang="fr-CI" sz="3800" b="1" kern="0" spc="50" dirty="0" smtClean="0">
                <a:solidFill>
                  <a:srgbClr val="FFFFFF"/>
                </a:solidFill>
                <a:latin typeface="Calibri" pitchFamily="34" charset="0"/>
                <a:cs typeface="Calibri" pitchFamily="34" charset="-120"/>
              </a:rPr>
              <a:t>Démonstration </a:t>
            </a:r>
            <a:endParaRPr lang="en-US" sz="3800" dirty="0"/>
          </a:p>
        </p:txBody>
      </p:sp>
    </p:spTree>
    <p:extLst>
      <p:ext uri="{BB962C8B-B14F-4D97-AF65-F5344CB8AC3E}">
        <p14:creationId xmlns:p14="http://schemas.microsoft.com/office/powerpoint/2010/main" val="2399741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627</Words>
  <Application>Microsoft Office PowerPoint</Application>
  <PresentationFormat>Affichage à l'écran (16:9)</PresentationFormat>
  <Paragraphs>24</Paragraphs>
  <Slides>3</Slides>
  <Notes>3</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vt:i4>
      </vt:variant>
    </vt:vector>
  </HeadingPairs>
  <TitlesOfParts>
    <vt:vector size="6" baseType="lpstr">
      <vt:lpstr>Arial</vt:lpstr>
      <vt:lpstr>Calibri</vt:lpstr>
      <vt:lpstr>Office Theme</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Générateur de Contenu IA Personnalisé</dc:title>
  <dc:subject>PptxGenJS Presentation</dc:subject>
  <dc:creator>PptxGenJS</dc:creator>
  <cp:lastModifiedBy>AKRE	ANGE DAVID</cp:lastModifiedBy>
  <cp:revision>4</cp:revision>
  <dcterms:created xsi:type="dcterms:W3CDTF">2026-06-09T07:45:59Z</dcterms:created>
  <dcterms:modified xsi:type="dcterms:W3CDTF">2026-06-09T13:00:28Z</dcterms:modified>
</cp:coreProperties>
</file>